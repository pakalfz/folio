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11111111-2222-3333-4444-555555555555}">
  <a:tblStyle styleId="{11111111-2222-3333-4444-555555555555}" styleName="Lab Lines">
    <a:wholeTbl>
      <a:tcTxStyle/>
      <a:tcStyle>
        <a:tcBdr>
          <a:left>
            <a:ln w="12700">
              <a:solidFill>
                <a:srgbClr val="000000"/>
              </a:solidFill>
            </a:ln>
          </a:left>
          <a:right>
            <a:ln w="12700">
              <a:solidFill>
                <a:srgbClr val="000000"/>
              </a:solidFill>
            </a:ln>
          </a:right>
          <a:top>
            <a:ln w="12700">
              <a:solidFill>
                <a:srgbClr val="000000"/>
              </a:solidFill>
            </a:ln>
          </a:top>
          <a:bottom>
            <a:ln w="12700">
              <a:solidFill>
                <a:srgbClr val="000000"/>
              </a:solidFill>
            </a:ln>
          </a:bottom>
          <a:insideH>
            <a:ln w="12700">
              <a:solidFill>
                <a:srgbClr val="000000"/>
              </a:solidFill>
            </a:ln>
          </a:insideH>
          <a:insideV>
            <a:ln>
              <a:noFill/>
            </a:ln>
          </a:insideV>
        </a:tcBdr>
        <a:fill>
          <a:noFill/>
        </a:fill>
      </a:tcStyle>
    </a:wholeTbl>
    <a:firstRow>
      <a:tcTxStyle b="on">
        <a:srgbClr val="FFFFFF"/>
      </a:tcTxStyle>
      <a:tcStyle>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0" name="Logo"/>
          <p:cNvPicPr/>
          <p:nvPr userDrawn="1"/>
        </p:nvPicPr>
        <p:blipFill>
          <a:blip r:embed="rId2"/>
          <a:stretch>
            <a:fillRect/>
          </a:stretch>
        </p:blipFill>
        <p:spPr>
          <a:xfrm>
            <a:off x="11176000" y="254000"/>
            <a:ext cx="762000" cy="381000"/>
          </a:xfrm>
          <a:prstGeom prst="rect">
            <a:avLst/>
          </a:prstGeom>
        </p:spPr>
      </p:pic>
      <p:sp>
        <p:nvSpPr>
          <p:cNvPr id="91" name="Wordmark"/>
          <p:cNvSpPr txBox="1"/>
          <p:nvPr userDrawn="1"/>
        </p:nvSpPr>
        <p:spPr>
          <a:xfrm>
            <a:off x="254000" y="254000"/>
            <a:ext cx="3810000" cy="508000"/>
          </a:xfrm>
        </p:spPr>
        <p:txBody>
          <a:bodyPr lIns="0" tIns="0" rIns="0" bIns="0"/>
          <a:lstStyle/>
          <a:p>
            <a:r>
              <a:rPr lang="en-GB" sz="3200" b="1">
                <a:latin typeface="Roboto"/>
              </a:rPr>
              <a:t>ACME LAB</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Black">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1000" y="254000"/>
            <a:ext cx="11430000" cy="508000"/>
          </a:xfrm>
        </p:spPr>
        <p:txBody>
          <a:bodyPr/>
          <a:lstStyle/>
          <a:p>
            <a:r>
              <a:t>RESULTS</a:t>
            </a:r>
          </a:p>
        </p:txBody>
      </p:sp>
      <p:sp>
        <p:nvSpPr>
          <p:cNvPr id="3" name="label:a"/>
          <p:cNvSpPr txBox="1"/>
          <p:nvPr/>
        </p:nvSpPr>
        <p:spPr>
          <a:xfrm>
            <a:off x="381000" y="1016000"/>
            <a:ext cx="5588000" cy="292100"/>
          </a:xfrm>
          <a:prstGeom prst="rect">
            <a:avLst/>
          </a:prstGeom>
          <a:noFill/>
        </p:spPr>
        <p:txBody>
          <a:bodyPr wrap="none" lIns="0" rIns="0" tIns="0" bIns="0">
            <a:spAutoFit/>
          </a:bodyPr>
          <a:lstStyle/>
          <a:p>
            <a:r>
              <a:rPr sz="1400"/>
              <a:t>(a) Energy profile</a:t>
            </a:r>
          </a:p>
        </p:txBody>
      </p:sp>
      <p:pic>
        <p:nvPicPr>
          <p:cNvPr id="4" name="fig:a" descr="image.png"/>
          <p:cNvPicPr>
            <a:picLocks noChangeAspect="1"/>
          </p:cNvPicPr>
          <p:nvPr/>
        </p:nvPicPr>
        <p:blipFill>
          <a:blip r:embed="rId2"/>
          <a:stretch>
            <a:fillRect/>
          </a:stretch>
        </p:blipFill>
        <p:spPr>
          <a:xfrm>
            <a:off x="381000" y="1308100"/>
            <a:ext cx="5588000" cy="3810000"/>
          </a:xfrm>
          <a:prstGeom prst="rect">
            <a:avLst/>
          </a:prstGeom>
        </p:spPr>
      </p:pic>
      <p:graphicFrame>
        <p:nvGraphicFramePr>
          <p:cNvPr id="5" name="table:a"/>
          <p:cNvGraphicFramePr>
            <a:graphicFrameLocks noGrp="1"/>
          </p:cNvGraphicFramePr>
          <p:nvPr/>
        </p:nvGraphicFramePr>
        <p:xfrm>
          <a:off x="6223000" y="1308100"/>
          <a:ext cx="5588000" cy="762000"/>
        </p:xfrm>
        <a:graphic>
          <a:graphicData uri="http://schemas.openxmlformats.org/drawingml/2006/table">
            <a:tbl>
              <a:tblPr firstRow="1" bandRow="1">
                <a:tableStyleId>{11111111-2222-3333-4444-555555555555}</a:tableStyleId>
              </a:tblPr>
              <a:tblGrid>
                <a:gridCol w="2794000"/>
                <a:gridCol w="2794000"/>
              </a:tblGrid>
              <a:tr h="254000">
                <a:tc>
                  <a:txBody>
                    <a:bodyPr/>
                    <a:lstStyle/>
                    <a:p>
                      <a:r>
                        <a:rPr sz="1200"/>
                        <a:t>r0c0</a:t>
                      </a:r>
                    </a:p>
                  </a:txBody>
                  <a:tcPr/>
                </a:tc>
                <a:tc>
                  <a:txBody>
                    <a:bodyPr/>
                    <a:lstStyle/>
                    <a:p>
                      <a:r>
                        <a:rPr sz="1200"/>
                        <a:t>r0c1</a:t>
                      </a:r>
                    </a:p>
                  </a:txBody>
                  <a:tcPr/>
                </a:tc>
              </a:tr>
              <a:tr h="254000">
                <a:tc>
                  <a:txBody>
                    <a:bodyPr/>
                    <a:lstStyle/>
                    <a:p>
                      <a:r>
                        <a:rPr sz="1200"/>
                        <a:t>r1c0</a:t>
                      </a:r>
                    </a:p>
                  </a:txBody>
                  <a:tcPr/>
                </a:tc>
                <a:tc>
                  <a:txBody>
                    <a:bodyPr/>
                    <a:lstStyle/>
                    <a:p>
                      <a:r>
                        <a:rPr sz="1200"/>
                        <a:t>r1c1</a:t>
                      </a:r>
                    </a:p>
                  </a:txBody>
                  <a:tcPr/>
                </a:tc>
              </a:tr>
              <a:tr h="254000">
                <a:tc>
                  <a:txBody>
                    <a:bodyPr/>
                    <a:lstStyle/>
                    <a:p>
                      <a:r>
                        <a:rPr sz="1200"/>
                        <a:t>r2c0</a:t>
                      </a:r>
                    </a:p>
                  </a:txBody>
                  <a:tcPr/>
                </a:tc>
                <a:tc>
                  <a:txBody>
                    <a:bodyPr/>
                    <a:lstStyle/>
                    <a:p>
                      <a:r>
                        <a:rPr sz="1200"/>
                        <a:t>r2c1</a:t>
                      </a:r>
                    </a:p>
                  </a:txBody>
                  <a:tcPr/>
                </a:tc>
              </a:tr>
            </a:tbl>
          </a:graphicData>
        </a:graphic>
      </p:graphicFrame>
      <p:sp>
        <p:nvSpPr>
          <p:cNvPr id="6" name="TextBox 7"/>
          <p:cNvSpPr txBox="1"/>
          <p:nvPr/>
        </p:nvSpPr>
        <p:spPr>
          <a:xfrm>
            <a:off x="6223000" y="2540000"/>
            <a:ext cx="5588000" cy="2540000"/>
          </a:xfrm>
          <a:prstGeom prst="rect">
            <a:avLst/>
          </a:prstGeom>
          <a:noFill/>
        </p:spPr>
        <p:txBody>
          <a:bodyPr wrap="none" lIns="0" rIns="0" tIns="0" bIns="0">
            <a:spAutoFit/>
          </a:bodyPr>
          <a:lstStyle/>
          <a:p>
            <a:r>
              <a:rPr sz="1400"/>
              <a:t>First words words words words words words words words words words words words words words words words words words words words words words words words words words words words words words words words words words words words words words words words </a:t>
            </a:r>
          </a:p>
        </p:txBody>
      </p:sp>
      <p:sp>
        <p:nvSpPr>
          <p:cNvPr id="7" name="caption"/>
          <p:cNvSpPr txBox="1"/>
          <p:nvPr/>
        </p:nvSpPr>
        <p:spPr>
          <a:xfrm>
            <a:off x="381000" y="6350000"/>
            <a:ext cx="11430000" cy="304800"/>
          </a:xfrm>
          <a:prstGeom prst="rect">
            <a:avLst/>
          </a:prstGeom>
          <a:noFill/>
        </p:spPr>
        <p:txBody>
          <a:bodyPr wrap="none" lIns="0" rIns="0" tIns="0" bIns="0">
            <a:spAutoFit/>
          </a:bodyPr>
          <a:lstStyle/>
          <a:p>
            <a:r>
              <a:rPr sz="1400"/>
              <a:t>One-line caption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1000" y="254000"/>
            <a:ext cx="11430000" cy="508000"/>
          </a:xfrm>
        </p:spPr>
        <p:txBody>
          <a:bodyPr/>
          <a:lstStyle/>
          <a:p>
            <a:r>
              <a:t>RESULTS</a:t>
            </a:r>
          </a:p>
        </p:txBody>
      </p:sp>
      <p:sp>
        <p:nvSpPr>
          <p:cNvPr id="3" name="label:a"/>
          <p:cNvSpPr txBox="1"/>
          <p:nvPr/>
        </p:nvSpPr>
        <p:spPr>
          <a:xfrm>
            <a:off x="381000" y="1016000"/>
            <a:ext cx="5588000" cy="292100"/>
          </a:xfrm>
          <a:prstGeom prst="rect">
            <a:avLst/>
          </a:prstGeom>
          <a:noFill/>
        </p:spPr>
        <p:txBody>
          <a:bodyPr wrap="none" lIns="0" rIns="0" tIns="0" bIns="0">
            <a:spAutoFit/>
          </a:bodyPr>
          <a:lstStyle/>
          <a:p>
            <a:r>
              <a:rPr sz="1400"/>
              <a:t>(a) Energy profile</a:t>
            </a:r>
          </a:p>
        </p:txBody>
      </p:sp>
      <p:pic>
        <p:nvPicPr>
          <p:cNvPr id="4" name="fig:a" descr="image.png"/>
          <p:cNvPicPr>
            <a:picLocks noChangeAspect="1"/>
          </p:cNvPicPr>
          <p:nvPr/>
        </p:nvPicPr>
        <p:blipFill>
          <a:blip r:embed="rId2"/>
          <a:stretch>
            <a:fillRect/>
          </a:stretch>
        </p:blipFill>
        <p:spPr>
          <a:xfrm>
            <a:off x="381000" y="1308100"/>
            <a:ext cx="5588000" cy="3810000"/>
          </a:xfrm>
          <a:prstGeom prst="rect">
            <a:avLst/>
          </a:prstGeom>
        </p:spPr>
      </p:pic>
      <p:graphicFrame>
        <p:nvGraphicFramePr>
          <p:cNvPr id="5" name="table:a"/>
          <p:cNvGraphicFramePr>
            <a:graphicFrameLocks noGrp="1"/>
          </p:cNvGraphicFramePr>
          <p:nvPr/>
        </p:nvGraphicFramePr>
        <p:xfrm>
          <a:off x="6223000" y="1308100"/>
          <a:ext cx="5588000" cy="762000"/>
        </p:xfrm>
        <a:graphic>
          <a:graphicData uri="http://schemas.openxmlformats.org/drawingml/2006/table">
            <a:tbl>
              <a:tblPr firstRow="1" bandRow="1">
                <a:tableStyleId>{11111111-2222-3333-4444-555555555555}</a:tableStyleId>
              </a:tblPr>
              <a:tblGrid>
                <a:gridCol w="2794000"/>
                <a:gridCol w="2794000"/>
              </a:tblGrid>
              <a:tr h="254000">
                <a:tc>
                  <a:txBody>
                    <a:bodyPr/>
                    <a:lstStyle/>
                    <a:p>
                      <a:r>
                        <a:rPr sz="1200"/>
                        <a:t>r0c0</a:t>
                      </a:r>
                    </a:p>
                  </a:txBody>
                  <a:tcPr/>
                </a:tc>
                <a:tc>
                  <a:txBody>
                    <a:bodyPr/>
                    <a:lstStyle/>
                    <a:p>
                      <a:r>
                        <a:rPr sz="1200"/>
                        <a:t>r0c1</a:t>
                      </a:r>
                    </a:p>
                  </a:txBody>
                  <a:tcPr/>
                </a:tc>
              </a:tr>
              <a:tr h="254000">
                <a:tc>
                  <a:txBody>
                    <a:bodyPr/>
                    <a:lstStyle/>
                    <a:p>
                      <a:r>
                        <a:rPr sz="1200"/>
                        <a:t>r1c0</a:t>
                      </a:r>
                    </a:p>
                  </a:txBody>
                  <a:tcPr/>
                </a:tc>
                <a:tc>
                  <a:txBody>
                    <a:bodyPr/>
                    <a:lstStyle/>
                    <a:p>
                      <a:r>
                        <a:rPr sz="1200"/>
                        <a:t>r1c1</a:t>
                      </a:r>
                    </a:p>
                  </a:txBody>
                  <a:tcPr/>
                </a:tc>
              </a:tr>
              <a:tr h="254000">
                <a:tc>
                  <a:txBody>
                    <a:bodyPr/>
                    <a:lstStyle/>
                    <a:p>
                      <a:r>
                        <a:rPr sz="1200"/>
                        <a:t>r2c0</a:t>
                      </a:r>
                    </a:p>
                  </a:txBody>
                  <a:tcPr/>
                </a:tc>
                <a:tc>
                  <a:txBody>
                    <a:bodyPr/>
                    <a:lstStyle/>
                    <a:p>
                      <a:r>
                        <a:rPr sz="1200"/>
                        <a:t>r2c1</a:t>
                      </a:r>
                    </a:p>
                  </a:txBody>
                  <a:tcPr/>
                </a:tc>
              </a:tr>
            </a:tbl>
          </a:graphicData>
        </a:graphic>
      </p:graphicFrame>
      <p:sp>
        <p:nvSpPr>
          <p:cNvPr id="6" name="TextBox 7"/>
          <p:cNvSpPr txBox="1"/>
          <p:nvPr/>
        </p:nvSpPr>
        <p:spPr>
          <a:xfrm>
            <a:off x="6223000" y="2540000"/>
            <a:ext cx="5588000" cy="2540000"/>
          </a:xfrm>
          <a:prstGeom prst="rect">
            <a:avLst/>
          </a:prstGeom>
          <a:noFill/>
        </p:spPr>
        <p:txBody>
          <a:bodyPr wrap="none" lIns="0" rIns="0" tIns="0" bIns="0">
            <a:spAutoFit/>
          </a:bodyPr>
          <a:lstStyle/>
          <a:p>
            <a:r>
              <a:rPr sz="1400"/>
              <a:t>Second words words words words words words words words words words words words words words words words words words words words words words words words words words words words words words words words words words words words words words words words </a:t>
            </a:r>
          </a:p>
        </p:txBody>
      </p:sp>
      <p:sp>
        <p:nvSpPr>
          <p:cNvPr id="7" name="caption"/>
          <p:cNvSpPr txBox="1"/>
          <p:nvPr/>
        </p:nvSpPr>
        <p:spPr>
          <a:xfrm>
            <a:off x="381000" y="6350000"/>
            <a:ext cx="11430000" cy="304800"/>
          </a:xfrm>
          <a:prstGeom prst="rect">
            <a:avLst/>
          </a:prstGeom>
          <a:noFill/>
        </p:spPr>
        <p:txBody>
          <a:bodyPr wrap="none" lIns="0" rIns="0" tIns="0" bIns="0">
            <a:spAutoFit/>
          </a:bodyPr>
          <a:lstStyle/>
          <a:p>
            <a:r>
              <a:rPr sz="1400"/>
              <a:t>One-line caption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TWO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